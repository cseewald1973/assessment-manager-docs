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9144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118872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228600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548640" y="338328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128016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2560320" cy="0"/>
          </a:xfrm>
          <a:prstGeom prst="line">
            <a:avLst/>
          </a:prstGeom>
          <a:noFill/>
          <a:ln w="190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7772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Manager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to management functions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oversight, confirmation tracking, and end-of-term workflows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3931920"/>
            <a:ext cx="52120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4096512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Teacher  ·  Admin  · 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management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screens reserved exclusively for the Management role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118872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1188720"/>
            <a:ext cx="201168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20116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188720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03720" y="1188720"/>
            <a:ext cx="20116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999232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999232"/>
            <a:ext cx="201168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4600" y="2999232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14600" y="2999232"/>
            <a:ext cx="2011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2999232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99232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2999232"/>
            <a:ext cx="20116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2999232"/>
            <a:ext cx="201168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99032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71" y="1510223"/>
            <a:ext cx="362834" cy="36283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29768" y="212140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11480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Rule 1 (daily limit) and Rule 2 (formal date scope) in real time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00600" y="1399032"/>
            <a:ext cx="585216" cy="5852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791" y="1510223"/>
            <a:ext cx="362834" cy="362834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18888" y="212140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Calendar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00600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term date windows and manage the SA public holiday list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2606040" y="1399032"/>
            <a:ext cx="585216" cy="58521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231" y="1510223"/>
            <a:ext cx="362834" cy="36283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624328" y="212140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2606040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reorder, and deactivate all dropdown values — subjects, classes, types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995160" y="1399032"/>
            <a:ext cx="585216" cy="5852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351" y="1510223"/>
            <a:ext cx="362834" cy="36283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013448" y="2121408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Tests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995160" y="2432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individual cycle test dates — blocks that day only, rest of week stays open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411480" y="3209544"/>
            <a:ext cx="585216" cy="5852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671" y="3320735"/>
            <a:ext cx="362834" cy="36283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29768" y="39319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Archive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411480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assessment data to Excel and clear lists for the new term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2606040" y="3209544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7231" y="3320735"/>
            <a:ext cx="362834" cy="36283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624328" y="39319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Report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2606040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teachers have confirmed their schedule — download as PDF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4800600" y="3209544"/>
            <a:ext cx="585216" cy="5852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1791" y="3320735"/>
            <a:ext cx="362834" cy="36283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818888" y="39319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Bookings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4800600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assessments across all teachers and all grades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995160" y="3209544"/>
            <a:ext cx="585216" cy="5852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6351" y="3320735"/>
            <a:ext cx="362834" cy="362834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7013448" y="393192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6995160" y="42428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subject-grouped PDF for student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Manager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5603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rules without touching the code — takes effect immediately for all users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188720"/>
            <a:ext cx="850392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" y="1298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1  —  Daily assessment limit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75488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per class per day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75488" y="19568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(adjustable)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64408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scope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64408" y="19568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class group OR School-wide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53328" y="171907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blocked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1956816"/>
            <a:ext cx="2651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teachers (Admin/Management can override if enabled)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788920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788920"/>
            <a:ext cx="8503920" cy="640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" y="2898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2  —  Formal date block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75488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scope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5488" y="3547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OR Class only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64408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override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264408" y="3547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 — overrides are logged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053328" y="3310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Required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53328" y="35478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Auto-locked ON for all formal period bookings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0040" y="4242816"/>
            <a:ext cx="8503920" cy="640080"/>
          </a:xfrm>
          <a:prstGeom prst="rect">
            <a:avLst/>
          </a:prstGeom>
          <a:solidFill>
            <a:srgbClr val="CCF0F3"/>
          </a:solidFill>
          <a:ln w="12700">
            <a:solidFill>
              <a:srgbClr val="99D6DC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34340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86968" y="431596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apply to new bookings only — existing confirmed assessments are never retroactively affected. All changes are logged with the editor's name and timestamp.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Calendar  &amp;  Formal Dates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60120"/>
            <a:ext cx="4251960" cy="4206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Calendar Manager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0934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837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Jan – 27 Mar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664208"/>
            <a:ext cx="822960" cy="256032"/>
          </a:xfrm>
          <a:prstGeom prst="rect">
            <a:avLst/>
          </a:prstGeom>
          <a:solidFill>
            <a:srgbClr val="CCF0F3"/>
          </a:solidFill>
          <a:ln w="6350">
            <a:solidFill>
              <a:srgbClr val="99D6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645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weeks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76272"/>
            <a:ext cx="39776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494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2 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478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Apr – 26 Jun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2304288"/>
            <a:ext cx="822960" cy="256032"/>
          </a:xfrm>
          <a:prstGeom prst="rect">
            <a:avLst/>
          </a:prstGeom>
          <a:solidFill>
            <a:srgbClr val="CCF0F3"/>
          </a:solidFill>
          <a:ln w="6350">
            <a:solidFill>
              <a:srgbClr val="99D6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286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weeks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16352"/>
            <a:ext cx="3977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95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3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1181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 – 25 Sep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944368"/>
            <a:ext cx="822960" cy="256032"/>
          </a:xfrm>
          <a:prstGeom prst="rect">
            <a:avLst/>
          </a:prstGeom>
          <a:solidFill>
            <a:srgbClr val="CCF0F3"/>
          </a:solidFill>
          <a:ln w="6350">
            <a:solidFill>
              <a:srgbClr val="99D6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9260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weeks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397764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29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4 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758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Oct – 11 Dec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3584448"/>
            <a:ext cx="822960" cy="256032"/>
          </a:xfrm>
          <a:prstGeom prst="rect">
            <a:avLst/>
          </a:prstGeom>
          <a:solidFill>
            <a:srgbClr val="CCF0F3"/>
          </a:solidFill>
          <a:ln w="6350">
            <a:solidFill>
              <a:srgbClr val="99D6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18795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Saturdays within a term window are bookable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public holidays for 2025–2026 pre-loaded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outside all term windows are greyed on the calendar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limited to the current term only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96012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960120"/>
            <a:ext cx="4023360" cy="42062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9875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Test Manager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37760" y="1536192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1536192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6002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10 &amp; 11 Mid-Year Exams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20640" y="183794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 – 19 Jun 2026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157984"/>
            <a:ext cx="374904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2157984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22219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8 &amp; 9 Mid-Year Assessments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20640" y="24597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Jun – 19 Jun 2026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779776"/>
            <a:ext cx="3749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37760" y="2779776"/>
            <a:ext cx="64008" cy="5303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2843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End-of-Year Examinations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0" y="3081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Nov – 20 Nov 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419856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periods block all bookings school-wide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Required auto-locked ON for all formal period assessments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also add and edit formal periods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scope can be changed to class-only in Policy Manager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Confirmation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who has confirmed their assessment schedule — download as PDF at any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70432"/>
            <a:ext cx="276148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6187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170432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170432"/>
            <a:ext cx="2761488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26187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264408" y="182880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confirmed ✗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170432"/>
            <a:ext cx="2761488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170432"/>
            <a:ext cx="2761488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261872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08776" y="182880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but stale 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59152"/>
            <a:ext cx="85039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395728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238658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✓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" y="2651760"/>
            <a:ext cx="850392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468880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53712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38544" y="26883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" y="2907792"/>
            <a:ext cx="8503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2953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C. Uren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468880" y="2953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53712" y="2953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638544" y="2953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5 Mar · 09:14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163824"/>
            <a:ext cx="85039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3209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S. Dlamini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468880" y="3209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53712" y="3209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638544" y="32095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Mar · 11:32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0040" y="3511296"/>
            <a:ext cx="850392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47872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58368" y="3538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confirmed ✗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20040" y="3803904"/>
            <a:ext cx="850392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84048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2468880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4553712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638544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term started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0040" y="4059936"/>
            <a:ext cx="8503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84048" y="4105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J. Mokoena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2468880" y="4105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4553712" y="4105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6638544" y="4105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20040" y="4315968"/>
            <a:ext cx="8503920" cy="2560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384048" y="4361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T. Pieterse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2468880" y="4361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9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4553712" y="4361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638544" y="4361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00016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58368" y="4690872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but stale ⚠</a:t>
            </a:r>
            <a:endParaRPr lang="en-US" sz="1100" dirty="0"/>
          </a:p>
        </p:txBody>
      </p:sp>
      <p:sp>
        <p:nvSpPr>
          <p:cNvPr id="55" name="Shape 50"/>
          <p:cNvSpPr/>
          <p:nvPr/>
        </p:nvSpPr>
        <p:spPr>
          <a:xfrm>
            <a:off x="320040" y="4956048"/>
            <a:ext cx="8503920" cy="23774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384048" y="4992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2468880" y="4992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4553712" y="4992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on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6638544" y="49926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detected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320040" y="5212080"/>
            <a:ext cx="8503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384048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S. Dlamini</a:t>
            </a:r>
            <a:endParaRPr lang="en-US" sz="1000" dirty="0"/>
          </a:p>
        </p:txBody>
      </p:sp>
      <p:sp>
        <p:nvSpPr>
          <p:cNvPr id="62" name="Text 57"/>
          <p:cNvSpPr/>
          <p:nvPr/>
        </p:nvSpPr>
        <p:spPr>
          <a:xfrm>
            <a:off x="2468880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</a:t>
            </a:r>
            <a:endParaRPr lang="en-US" sz="1000" dirty="0"/>
          </a:p>
        </p:txBody>
      </p:sp>
      <p:sp>
        <p:nvSpPr>
          <p:cNvPr id="63" name="Text 58"/>
          <p:cNvSpPr/>
          <p:nvPr/>
        </p:nvSpPr>
        <p:spPr>
          <a:xfrm>
            <a:off x="4553712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Mar</a:t>
            </a:r>
            <a:endParaRPr lang="en-US" sz="1000" dirty="0"/>
          </a:p>
        </p:txBody>
      </p:sp>
      <p:sp>
        <p:nvSpPr>
          <p:cNvPr id="64" name="Text 59"/>
          <p:cNvSpPr/>
          <p:nvPr/>
        </p:nvSpPr>
        <p:spPr>
          <a:xfrm>
            <a:off x="6638544" y="52578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assessment added 12 Mar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Data Manager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dropdown values in the app — maintained by Management without developer involvement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2788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161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" y="1645920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556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709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029968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13969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414016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523744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4780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Sciences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2798064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9077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2862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182112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2918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46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" y="3566160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67588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" y="3950208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059936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" y="4014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11887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1188720"/>
            <a:ext cx="2788920" cy="38404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29000" y="12161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Groups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01568" y="1645920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1755648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1709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01568" y="2029968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0" y="2139696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01568" y="2414016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0" y="2523744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75888" y="24780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9A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01568" y="2798064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4720" y="2907792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5888" y="2862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9B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01568" y="3182112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74720" y="3291840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75888" y="3246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401568" y="3566160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0" y="3675888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75888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10B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01568" y="3950208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474720" y="4059936"/>
            <a:ext cx="109728" cy="10972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401421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11A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63640" y="11887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263640" y="1188720"/>
            <a:ext cx="27889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0" y="12161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Types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73368" y="1645920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46520" y="17556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47688" y="17099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73368" y="2029968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46520" y="213969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47688" y="209397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73368" y="2414016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46520" y="252374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47688" y="247802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73368" y="2798064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46520" y="290779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47688" y="286207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373368" y="3182112"/>
            <a:ext cx="2578608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46520" y="329184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47688" y="3246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373368" y="3566160"/>
            <a:ext cx="2578608" cy="32918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46520" y="367588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47688" y="36301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20040" y="4690872"/>
            <a:ext cx="278892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91840" y="4690872"/>
            <a:ext cx="2788920" cy="3200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263640" y="4690872"/>
            <a:ext cx="278892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7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45736"/>
            <a:ext cx="201168" cy="201168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667512" y="47457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value — Immediately available in dropdowns for all users</a:t>
            </a:r>
            <a:endParaRPr lang="en-US" sz="1000" dirty="0"/>
          </a:p>
        </p:txBody>
      </p:sp>
      <p:pic>
        <p:nvPicPr>
          <p:cNvPr id="7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4745736"/>
            <a:ext cx="201168" cy="201168"/>
          </a:xfrm>
          <a:prstGeom prst="rect">
            <a:avLst/>
          </a:prstGeom>
        </p:spPr>
      </p:pic>
      <p:sp>
        <p:nvSpPr>
          <p:cNvPr id="79" name="Text 75"/>
          <p:cNvSpPr/>
          <p:nvPr/>
        </p:nvSpPr>
        <p:spPr>
          <a:xfrm>
            <a:off x="6611112" y="47457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— Hides from future bookings but keeps historical records intact</a:t>
            </a:r>
            <a:endParaRPr lang="en-US" sz="1000" dirty="0"/>
          </a:p>
        </p:txBody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745736"/>
            <a:ext cx="201168" cy="201168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3639312" y="474573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— Drag to set the order values appear in dropdowns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End-of-term archive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four-step process — runs at the end of each term before the new term begins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31673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29844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ended 27 March 2026  ·  Archive and clear before the new term begins  ·  2 snoozes remaining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828800"/>
            <a:ext cx="20116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88136" y="208483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88136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29768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29768" y="306324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assessments · 3 formal periods · 14 Jan – 27 Mar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1828800"/>
            <a:ext cx="2011680" cy="5486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82696" y="2084832"/>
            <a:ext cx="475488" cy="475488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82696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624328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archive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624328" y="306324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1 2026 Archive — archived by Mr D. van Wyk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09160" y="1828800"/>
            <a:ext cx="201168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77256" y="2084832"/>
            <a:ext cx="475488" cy="47548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77256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818888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folder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18888" y="306324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Assets / AssessmentArchives / 2026 /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903720" y="182880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903720" y="1828800"/>
            <a:ext cx="20116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71816" y="2084832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71816" y="2066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013448" y="2697480"/>
            <a:ext cx="1801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CONFIRM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013448" y="3063240"/>
            <a:ext cx="1801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gate prevents accidental execution — cannot be undone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20040" y="420624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325112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914400" y="427939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Excel files are generated and saved to SharePoint before the lists are cleared: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914400" y="4553712"/>
            <a:ext cx="772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Term1_2026_Assessments.xlsx  (47 rows + summary sheet)      Term1_2026_FormalDates.xlsx  (3 rows + summary sheet)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Distribution Report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— grouped by subject then class — for handing out to students each term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512064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5120640" cy="42062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5214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Schedule — Grade 10  ·  Term 1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120640" cy="29260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83664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476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26464" y="1947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5 Mar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59152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19476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212848"/>
            <a:ext cx="51206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276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26464" y="2276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20 Mar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59152" y="2276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0" y="22768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26464" y="2606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5 Mar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59152" y="2606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Test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0" y="2606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Study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51206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97180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236976"/>
            <a:ext cx="5120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300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26464" y="3300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6 Mar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59152" y="3300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Writing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33009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study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566160"/>
            <a:ext cx="5120640" cy="31089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26464" y="3630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7 Mar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59152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Presentation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40480" y="36301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study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1170432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1170432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2139696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2139696"/>
            <a:ext cx="64008" cy="8229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7840" y="3108960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577840" y="3108960"/>
            <a:ext cx="6400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77840" y="4078224"/>
            <a:ext cx="32461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77840" y="4078224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05856" y="1353312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453896"/>
            <a:ext cx="201168" cy="20116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236208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subject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6236208" y="15727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appear alphabetically — easy to scan for your subject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705856" y="329184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392424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236208" y="3218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included</a:t>
            </a:r>
            <a:endParaRPr lang="en-US" sz="1300" dirty="0"/>
          </a:p>
        </p:txBody>
      </p:sp>
      <p:sp>
        <p:nvSpPr>
          <p:cNvPr id="51" name="Text 47"/>
          <p:cNvSpPr/>
          <p:nvPr/>
        </p:nvSpPr>
        <p:spPr>
          <a:xfrm>
            <a:off x="6236208" y="35112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notes appear as indented italic lines under each assessment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5705856" y="2322576"/>
            <a:ext cx="402336" cy="402336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5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3160"/>
            <a:ext cx="201168" cy="201168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236208" y="22494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order</a:t>
            </a:r>
            <a:endParaRPr lang="en-US" sz="1300" dirty="0"/>
          </a:p>
        </p:txBody>
      </p:sp>
      <p:sp>
        <p:nvSpPr>
          <p:cNvPr id="55" name="Text 50"/>
          <p:cNvSpPr/>
          <p:nvPr/>
        </p:nvSpPr>
        <p:spPr>
          <a:xfrm>
            <a:off x="6236208" y="25420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each subject, classes listed A to Z, dates chronological</a:t>
            </a:r>
            <a:endParaRPr lang="en-US" sz="1100" dirty="0"/>
          </a:p>
        </p:txBody>
      </p:sp>
      <p:sp>
        <p:nvSpPr>
          <p:cNvPr id="56" name="Shape 51"/>
          <p:cNvSpPr/>
          <p:nvPr/>
        </p:nvSpPr>
        <p:spPr>
          <a:xfrm>
            <a:off x="5705856" y="4261104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4361688"/>
            <a:ext cx="201168" cy="20116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236208" y="41879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excluded</a:t>
            </a:r>
            <a:endParaRPr lang="en-US" sz="1300" dirty="0"/>
          </a:p>
        </p:txBody>
      </p:sp>
      <p:sp>
        <p:nvSpPr>
          <p:cNvPr id="59" name="Text 53"/>
          <p:cNvSpPr/>
          <p:nvPr/>
        </p:nvSpPr>
        <p:spPr>
          <a:xfrm>
            <a:off x="6236208" y="44805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assessments never appear on the student report</a:t>
            </a:r>
            <a:endParaRPr lang="en-US" sz="1100" dirty="0"/>
          </a:p>
        </p:txBody>
      </p:sp>
      <p:sp>
        <p:nvSpPr>
          <p:cNvPr id="60" name="Text 54"/>
          <p:cNvSpPr/>
          <p:nvPr/>
        </p:nvSpPr>
        <p:spPr>
          <a:xfrm>
            <a:off x="5577840" y="480974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from: Export → PDF — Student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Management needs — all in one navigation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07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0700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27448" y="1207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27448" y="120700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350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5000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350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2350008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493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93008"/>
            <a:ext cx="6400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27448" y="3493008"/>
            <a:ext cx="42245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3493008"/>
            <a:ext cx="64008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636008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636008"/>
            <a:ext cx="64008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" y="14630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63624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097280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windows set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097280" y="1682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Calendar Manager — define bookable date ranges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28616" y="26060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06624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04688" y="2487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ready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504688" y="2825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Manager — subjects, classes, types all current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28616" y="14630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63624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504688" y="1344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dates entered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504688" y="1682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Test Manager — enter individual cycle test dates across the school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21208" y="2606040"/>
            <a:ext cx="402336" cy="40233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706624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2487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configured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97280" y="2825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Manager — set daily limits and formal date scope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928616" y="3749040"/>
            <a:ext cx="402336" cy="40233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49624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504688" y="3630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at term end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504688" y="3968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Archive Manager — export to Excel and clear for new term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21208" y="374904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849624"/>
            <a:ext cx="201168" cy="20116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97280" y="36301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 monitored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097280" y="39684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Report — chase non-confirmed teachers each term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530352" y="4855464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" y="4956048"/>
            <a:ext cx="201168" cy="20116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078992" y="4764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report distributed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1078992" y="5093208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→ Student Distribution PDF for each grade each term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summary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66928" y="1536192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636776"/>
            <a:ext cx="146304" cy="146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508760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rules — the app enforces them automatically for all teachers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285292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953512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0704" y="2825496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the workflow — from term setup through confirmation to archive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66928" y="2194560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95144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0704" y="216712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everything — all grades, all teachers, all bookings, in real time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66928" y="351129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11880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60704" y="348386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needed — all configuration is self-service through the app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support or configuration changes, contact the assessment coordinator.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Date Manager — Management Guide</dc:title>
  <dc:subject>PptxGenJS Presentation</dc:subject>
  <dc:creator>PptxGenJS</dc:creator>
  <cp:lastModifiedBy>PptxGenJS</cp:lastModifiedBy>
  <cp:revision>1</cp:revision>
  <dcterms:created xsi:type="dcterms:W3CDTF">2026-05-22T15:08:14Z</dcterms:created>
  <dcterms:modified xsi:type="dcterms:W3CDTF">2026-05-22T15:08:14Z</dcterms:modified>
</cp:coreProperties>
</file>