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3108960" cy="31089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Manager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book, manage, and confirm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assessment schedule — in one place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all teaching staff  ·  Log in with your school Microsoft 365 account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app?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it replaces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44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overloaded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099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tests on the same day with no coordination between subjects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834640"/>
            <a:ext cx="64008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booking without knowing what other subjects have already scheduled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23444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234440"/>
            <a:ext cx="64008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344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Last-minute surprises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7099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teachers finding out about clashes only when it's too late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4206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834640"/>
            <a:ext cx="64008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tracking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33101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WhatsApp groups that go out of date immediately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87368" y="283464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9781" y="2937053"/>
            <a:ext cx="307238" cy="30723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087368" y="1234440"/>
            <a:ext cx="512064" cy="51206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781" y="1336853"/>
            <a:ext cx="307238" cy="30723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8659368" y="2834640"/>
            <a:ext cx="512064" cy="51206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781" y="2937053"/>
            <a:ext cx="307238" cy="30723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659368" y="123444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1781" y="1336853"/>
            <a:ext cx="307238" cy="3072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password — use your school Microsoft 365 account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26464"/>
            <a:ext cx="420624" cy="42062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08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Assessment Manager link in the SharePoint navigation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304288"/>
            <a:ext cx="420624" cy="42062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231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2374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school email and password — the same one you use for Outlook and Teams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82112"/>
            <a:ext cx="420624" cy="42062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your profile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grades, classes, and subjects you teach. This only happens once.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9534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059936"/>
            <a:ext cx="420624" cy="42062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986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booking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793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calendar opens immediately on your default grade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teacher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— determines what you see everywhere in the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258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select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I teach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66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Grade 10 and Grade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Grade 10A, 10B, Grade 11A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I teach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438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Mathematics, Physical Sciences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867912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862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123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calendar opens when you first log 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1207008"/>
            <a:ext cx="3794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1325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controls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86537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532120" y="18105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booking form only shows your own classes — not the whole school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578608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32120" y="252374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subject dropdown only shows your subjects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291840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32120" y="32369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switcher tabs appear if you teach multiple grades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00507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32120" y="39502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update your profile at any time from the navigation bar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grade calendar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view — everyone in the grade sees the same calendar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5212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5212080" cy="457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Term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1887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 Today  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73936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63824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8768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53712" y="16642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3936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3824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196596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2176272"/>
            <a:ext cx="585216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21854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858768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3712" y="1938528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5568" y="267919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73936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68880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05456" y="267919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05456" y="2889504"/>
            <a:ext cx="585216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289864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TE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505456" y="3090672"/>
            <a:ext cx="585216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23744" y="3099816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163824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58768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3712" y="2651760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364992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8992" y="3364992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73936" y="3364992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68880" y="3364992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63824" y="3364992"/>
            <a:ext cx="658368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39242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3602736"/>
            <a:ext cx="585216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18688" y="3611880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HI QU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200400" y="3803904"/>
            <a:ext cx="585216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18688" y="381304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AS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858768" y="3364992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53712" y="3364992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8992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73936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68880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05456" y="4105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05456" y="4315968"/>
            <a:ext cx="585216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C6F6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23744" y="432511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PR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163824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58768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53712" y="4078224"/>
            <a:ext cx="65836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9280" y="1261872"/>
            <a:ext cx="3154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669280" y="1261872"/>
            <a:ext cx="64008" cy="7863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70448" y="13533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Red badge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870448" y="16459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requires study — students need to prepare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69280" y="2194560"/>
            <a:ext cx="3154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669280" y="2194560"/>
            <a:ext cx="6400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70448" y="22860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Green badge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870448" y="25786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required — quiz, oral, or project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669280" y="3127248"/>
            <a:ext cx="3154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669280" y="3127248"/>
            <a:ext cx="64008" cy="7863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70448" y="32186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(blue)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870448" y="351129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date is highlighted in blue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669280" y="4059936"/>
            <a:ext cx="3154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669280" y="4059936"/>
            <a:ext cx="64008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70448" y="41513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5870448" y="44439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are limited to the current term only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an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shows live conflict feedback the moment you choose a class and date — no surprises at save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326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NAME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4048" y="11155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Physical Sciences Practical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4264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6093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subjects appear here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83664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920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GROUP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21031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classes appear here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4140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" y="25968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Test · Quiz · Assignment · Practical · Oral · Project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71216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9077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048" y="30906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Greys out blocked and out-of-term dates automatically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64992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3401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REQUIRED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4048" y="35844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ON · Cycle test days auto-locked 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41148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38953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" y="40782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Max 300 chars · Counter turns red near limit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4114800" cy="38404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434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Assessment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868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conflict indicator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11704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below the Date field the moment a class and date are both selected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1481328"/>
            <a:ext cx="4297680" cy="658368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5453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assessments booked for 10A on Thu 12 Mar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18013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enabled  ·  slot is free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2231136"/>
            <a:ext cx="4297680" cy="950976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295144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 of 2 slots used for 10A on Thu 5 Mar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36592" y="2560320"/>
            <a:ext cx="3968496" cy="237744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578608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CT  MA  Mathematics Cycle Test  (Mr C. Uren)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36592" y="283464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enabled  ·  1 slot still free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17720" y="3273552"/>
            <a:ext cx="4297680" cy="1371600"/>
          </a:xfrm>
          <a:prstGeom prst="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3337560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10A already has 2 assessments on Thu 19 Mar — full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36592" y="3611880"/>
            <a:ext cx="3968496" cy="219456"/>
          </a:xfrm>
          <a:prstGeom prst="rect">
            <a:avLst/>
          </a:prstGeom>
          <a:solidFill>
            <a:srgbClr val="FFE4E6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630168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PR  SC  Physical Sciences Practical  (Mr C. Uren)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3858768"/>
            <a:ext cx="3968496" cy="219456"/>
          </a:xfrm>
          <a:prstGeom prst="rect">
            <a:avLst/>
          </a:prstGeom>
          <a:solidFill>
            <a:srgbClr val="FFE4E6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877056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AS  EN  English Assignment           (Ms S. Dlamini)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36592" y="4114800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different date to continue.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36592" y="4315968"/>
            <a:ext cx="2194560" cy="256032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DISABLED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40880" y="4315968"/>
            <a:ext cx="182880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date 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tests: what is and isn't blocked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tests block the specific day only — the rest of the week stays open for continuous assessments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51206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161288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3 March 2026  —  Grade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024128" cy="274320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1024128" cy="186537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book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761488"/>
            <a:ext cx="822960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here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344168" y="1463040"/>
            <a:ext cx="1024128" cy="274320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0744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44168" y="1737360"/>
            <a:ext cx="1024128" cy="186537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9032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99032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book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35608" y="2761488"/>
            <a:ext cx="822960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5608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here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68296" y="1463040"/>
            <a:ext cx="1024128" cy="274320"/>
          </a:xfrm>
          <a:prstGeom prst="rect">
            <a:avLst/>
          </a:prstGeom>
          <a:solidFill>
            <a:srgbClr val="FECACA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68296" y="1737360"/>
            <a:ext cx="1024128" cy="1865376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Blocked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96312" y="2139696"/>
            <a:ext cx="749808" cy="420624"/>
          </a:xfrm>
          <a:prstGeom prst="rect">
            <a:avLst/>
          </a:prstGeom>
          <a:solidFill>
            <a:srgbClr val="FECACA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217627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92424" y="1463040"/>
            <a:ext cx="1024128" cy="274320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92424" y="1737360"/>
            <a:ext cx="1024128" cy="186537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47288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book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83864" y="2761488"/>
            <a:ext cx="822960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here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16552" y="1463040"/>
            <a:ext cx="1024128" cy="274320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3128" y="148132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7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16552" y="1737360"/>
            <a:ext cx="1024128" cy="186537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71416" y="1828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71416" y="212140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book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07992" y="2761488"/>
            <a:ext cx="822960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07992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here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77840" y="1170432"/>
            <a:ext cx="3337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77840" y="1170432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79008" y="12618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is blocked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79008" y="15727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test is on Wed 5 Mar — no new assessments can be booked on that specific day for Grade 10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77840" y="2121408"/>
            <a:ext cx="3337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77840" y="2121408"/>
            <a:ext cx="6400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9008" y="2212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Mon, Tue, Thu, Fri open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79008" y="25237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week is completely open. Teachers can book assignments, practicals, orals — anything except another CT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577840" y="3072384"/>
            <a:ext cx="3337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77840" y="3072384"/>
            <a:ext cx="64008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79008" y="31638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Required auto-locked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79008" y="34747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assessment booked on a cycle test day has Study Required automatically set and locked to ON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577840" y="4023360"/>
            <a:ext cx="33375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577840" y="4023360"/>
            <a:ext cx="64008" cy="8229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79008" y="4114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Admin/Management override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779008" y="442569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and Management can book on a cycle test day — the override is logged in the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Confirming your schedule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you're happy with your dates — confirm them to lock them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2793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517904"/>
            <a:ext cx="512064" cy="5120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Confirm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79222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'Confirm' in the navigation bar to open your schedule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42793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" y="3182112"/>
            <a:ext cx="512064" cy="51206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127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 grade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grade shows all your Scheduled assessments in a read-only list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73752" y="1261872"/>
            <a:ext cx="42793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74920" y="1517904"/>
            <a:ext cx="512064" cy="51206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499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42432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Confirm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42432" y="1792224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'Confirm Grade 10 Schedule' — your assessments are now locked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73752" y="2926080"/>
            <a:ext cx="427939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4920" y="3182112"/>
            <a:ext cx="512064" cy="512064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163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42432" y="31272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badge appears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42432" y="345643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shows a green banner: 'Grade 10 schedule confirmed'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33832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18304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" y="46908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add a new assessment after confirming, your schedule is marked as needing re-confirmation. Just re-confirm to lock again.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required — what it means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40233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MA 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66160" cy="73152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Study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badge · book icon · students must prepare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0233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5029200" y="1737360"/>
            <a:ext cx="3566160" cy="73152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Required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badge · no icon · no preparation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35808"/>
            <a:ext cx="850392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82296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assessments are automatically set to Requires Study — you cannot change this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assessments default to Requires Study — you can toggle it off if appropriate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Assignments, orals, and class projects are good candidates for No Study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distribution report shows the study requirement on every assessment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split screen — both views at once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shows the exact date · The term grid shows the week-level load · Both are always visible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74920" cy="25603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7782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— Monthly Calendar  (exact dates)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40680" y="868680"/>
            <a:ext cx="34747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8778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 — Term Grid  (week overview)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124712"/>
            <a:ext cx="5074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24712"/>
            <a:ext cx="507492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Term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143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 Today  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472184"/>
            <a:ext cx="5074920" cy="219456"/>
          </a:xfrm>
          <a:prstGeom prst="rect">
            <a:avLst/>
          </a:prstGeom>
          <a:solidFill>
            <a:srgbClr val="2C2820"/>
          </a:solidFill>
          <a:ln w="12700">
            <a:solidFill>
              <a:srgbClr val="2C2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24128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00784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54096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30752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07408" y="148132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46404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18488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64208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90572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6292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62656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08376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34740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0460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06824" y="1691640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172821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313432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46404" y="2313432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18488" y="2313432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64208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90572" y="2313432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6292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27148" y="2532888"/>
            <a:ext cx="580644" cy="173736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45436" y="2551176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SC PR 📚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327148" y="2734056"/>
            <a:ext cx="580644" cy="173736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45436" y="2752344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MA TE 📚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962656" y="2313432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08376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99232" y="2532888"/>
            <a:ext cx="580644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2551176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EN AS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634740" y="2313432"/>
            <a:ext cx="672084" cy="621792"/>
          </a:xfrm>
          <a:prstGeom prst="rect">
            <a:avLst/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80460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71316" y="2532888"/>
            <a:ext cx="580644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89604" y="2551176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EN OR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306824" y="2313432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52544" y="235000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2935224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946404" y="2935224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2124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618488" y="2935224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64208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290572" y="2935224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36292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327148" y="3154680"/>
            <a:ext cx="580644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45436" y="3172968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EN AS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962656" y="2935224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08376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634740" y="2935224"/>
            <a:ext cx="672084" cy="621792"/>
          </a:xfrm>
          <a:prstGeom prst="rect">
            <a:avLst/>
          </a:prstGeom>
          <a:solidFill>
            <a:srgbClr val="EFF6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80460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306824" y="2935224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52544" y="297180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74320" y="3557016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3593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46404" y="3557016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92124" y="3593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618488" y="3557016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64208" y="3593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290572" y="3557016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336292" y="3593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962656" y="3557016"/>
            <a:ext cx="672084" cy="621792"/>
          </a:xfrm>
          <a:prstGeom prst="rect">
            <a:avLst/>
          </a:prstGeom>
          <a:solidFill>
            <a:srgbClr val="DBEAF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35808" y="3584448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35808" y="35844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999232" y="3776472"/>
            <a:ext cx="580644" cy="173736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17520" y="3794760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 QU 📚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999232" y="3977640"/>
            <a:ext cx="580644" cy="173736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17520" y="3995928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GE AS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634740" y="3557016"/>
            <a:ext cx="672084" cy="621792"/>
          </a:xfrm>
          <a:prstGeom prst="rect">
            <a:avLst/>
          </a:prstGeom>
          <a:solidFill>
            <a:srgbClr val="FFF7ED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80460" y="3593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091940" y="35935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4306824" y="3557016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52544" y="359359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74320" y="4178808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0040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946404" y="4178808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92124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618488" y="4178808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64208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290572" y="4178808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336292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962656" y="4178808"/>
            <a:ext cx="672084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08376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999232" y="4398264"/>
            <a:ext cx="580644" cy="173736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017520" y="4416552"/>
            <a:ext cx="5440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LS PJ 📚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3634740" y="4178808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680460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306824" y="4178808"/>
            <a:ext cx="672084" cy="621792"/>
          </a:xfrm>
          <a:prstGeom prst="rect">
            <a:avLst/>
          </a:prstGeom>
          <a:solidFill>
            <a:srgbClr val="F5F5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52544" y="4215384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74320" y="2331720"/>
            <a:ext cx="54864" cy="59070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413248" y="1124712"/>
            <a:ext cx="3456432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5413248" y="1124712"/>
            <a:ext cx="3456432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449824" y="117043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6016752" y="117043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6592824" y="117043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7168896" y="117043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7744968" y="117043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8321040" y="117043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Wk5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5413248" y="1472184"/>
            <a:ext cx="345643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68112" y="17647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7132320" y="1472184"/>
            <a:ext cx="36576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592824" y="1563624"/>
            <a:ext cx="484632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611112" y="160020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TE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7168896" y="1563624"/>
            <a:ext cx="484632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187184" y="160020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7744968" y="1563624"/>
            <a:ext cx="484632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763256" y="1600200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PR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7744968" y="1892808"/>
            <a:ext cx="484632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763256" y="1929384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HI QU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321040" y="1563624"/>
            <a:ext cx="475488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339328" y="16002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LS PJ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5413248" y="2276856"/>
            <a:ext cx="3456432" cy="80467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468112" y="256946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7132320" y="2276856"/>
            <a:ext cx="36576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016752" y="2368296"/>
            <a:ext cx="484632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035040" y="240487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6592824" y="2368296"/>
            <a:ext cx="484632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611112" y="240487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TE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7744968" y="2368296"/>
            <a:ext cx="484632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763256" y="2404872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PR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321040" y="2368296"/>
            <a:ext cx="475488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339328" y="24048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AS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413248" y="3081528"/>
            <a:ext cx="3456432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468112" y="337413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7132320" y="3081528"/>
            <a:ext cx="36576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592824" y="3172968"/>
            <a:ext cx="484632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611112" y="3209544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AS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7168896" y="3172968"/>
            <a:ext cx="484632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187184" y="3209544"/>
            <a:ext cx="448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QU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8321040" y="3172968"/>
            <a:ext cx="475488" cy="256032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339328" y="32095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8321040" y="3502152"/>
            <a:ext cx="475488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339328" y="35387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TE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5413248" y="3886200"/>
            <a:ext cx="3456432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468112" y="40142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5980176" y="401421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5" name="Text 153"/>
          <p:cNvSpPr/>
          <p:nvPr/>
        </p:nvSpPr>
        <p:spPr>
          <a:xfrm>
            <a:off x="6556248" y="401421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6" name="Text 154"/>
          <p:cNvSpPr/>
          <p:nvPr/>
        </p:nvSpPr>
        <p:spPr>
          <a:xfrm>
            <a:off x="7132320" y="401421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7" name="Text 155"/>
          <p:cNvSpPr/>
          <p:nvPr/>
        </p:nvSpPr>
        <p:spPr>
          <a:xfrm>
            <a:off x="7708392" y="401421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8" name="Text 156"/>
          <p:cNvSpPr/>
          <p:nvPr/>
        </p:nvSpPr>
        <p:spPr>
          <a:xfrm>
            <a:off x="8284464" y="401421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9" name="Shape 157"/>
          <p:cNvSpPr/>
          <p:nvPr/>
        </p:nvSpPr>
        <p:spPr>
          <a:xfrm>
            <a:off x="2633472" y="4809744"/>
            <a:ext cx="22860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633472" y="48188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Thu 5 Mar  →  Grid: Week 4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3044952" y="2935224"/>
            <a:ext cx="1005840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3044952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Today (20 Mar)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6784848" y="960120"/>
            <a:ext cx="576072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784848" y="969264"/>
            <a:ext cx="576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week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 grid &amp; exports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panel shows the full term at a glance — export anytime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56692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5669280" cy="40233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25880" y="1133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40280" y="1133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1133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9080" y="1133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3480" y="11338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554480"/>
            <a:ext cx="56692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7556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627632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6550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627632"/>
            <a:ext cx="804672" cy="237744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6550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0" y="1627632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16550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PR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0" y="1901952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33088" y="192938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HI QU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0" y="1627632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165506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LS PJ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249424"/>
            <a:ext cx="5669280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71600" y="2322576"/>
            <a:ext cx="804672" cy="237744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89888" y="23500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0" y="2322576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04288" y="23500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0" y="2322576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33088" y="23500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PR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2322576"/>
            <a:ext cx="804672" cy="237744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235000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AS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2944368"/>
            <a:ext cx="56692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145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286000" y="3017520"/>
            <a:ext cx="804672" cy="237744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04288" y="304495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3017520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304495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MA QU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0" y="3017520"/>
            <a:ext cx="804672" cy="237744"/>
          </a:xfrm>
          <a:prstGeom prst="rect">
            <a:avLst/>
          </a:prstGeom>
          <a:solidFill>
            <a:srgbClr val="D1FAE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04495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0" y="3291840"/>
            <a:ext cx="804672" cy="237744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47488" y="331927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SC TE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56692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37160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28600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0" y="3712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options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199632" y="157276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99632" y="2633472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99632" y="369417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27648" y="1792224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1892808"/>
            <a:ext cx="201168" cy="201168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6839712" y="17007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grid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839712" y="201168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term grid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6327648" y="2852928"/>
            <a:ext cx="402336" cy="402336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953512"/>
            <a:ext cx="201168" cy="201168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6839712" y="27614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schedule</a:t>
            </a:r>
            <a:endParaRPr lang="en-US" sz="1300" dirty="0"/>
          </a:p>
        </p:txBody>
      </p:sp>
      <p:sp>
        <p:nvSpPr>
          <p:cNvPr id="62" name="Text 58"/>
          <p:cNvSpPr/>
          <p:nvPr/>
        </p:nvSpPr>
        <p:spPr>
          <a:xfrm>
            <a:off x="6839712" y="3072384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schedule for printing</a:t>
            </a:r>
            <a:endParaRPr lang="en-US" sz="1100" dirty="0"/>
          </a:p>
        </p:txBody>
      </p:sp>
      <p:sp>
        <p:nvSpPr>
          <p:cNvPr id="63" name="Shape 59"/>
          <p:cNvSpPr/>
          <p:nvPr/>
        </p:nvSpPr>
        <p:spPr>
          <a:xfrm>
            <a:off x="6327648" y="391363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014216"/>
            <a:ext cx="201168" cy="201168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6839712" y="382219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</a:t>
            </a:r>
            <a:endParaRPr lang="en-US" sz="1300" dirty="0"/>
          </a:p>
        </p:txBody>
      </p:sp>
      <p:sp>
        <p:nvSpPr>
          <p:cNvPr id="66" name="Text 61"/>
          <p:cNvSpPr/>
          <p:nvPr/>
        </p:nvSpPr>
        <p:spPr>
          <a:xfrm>
            <a:off x="6839712" y="41330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subject and class</a:t>
            </a:r>
            <a:endParaRPr lang="en-US" sz="1100" dirty="0"/>
          </a:p>
        </p:txBody>
      </p:sp>
      <p:sp>
        <p:nvSpPr>
          <p:cNvPr id="67" name="Text 62"/>
          <p:cNvSpPr/>
          <p:nvPr/>
        </p:nvSpPr>
        <p:spPr>
          <a:xfrm>
            <a:off x="320040" y="41330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Hover any badge in the app to see the exact assessment date and teacher name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to know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276148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64408" y="100584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64408" y="1005840"/>
            <a:ext cx="276148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08776" y="100584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08776" y="1005840"/>
            <a:ext cx="2761488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301752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3017520"/>
            <a:ext cx="276148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301752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3017520"/>
            <a:ext cx="276148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3017520"/>
            <a:ext cx="27614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3017520"/>
            <a:ext cx="2761488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1207008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16736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4632" y="17556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is term-scoped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4632" y="210312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see the current term. Once the term ends, Management archives the data and you start fresh next term.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73368" y="1207008"/>
            <a:ext cx="457200" cy="4572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131673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373368" y="17556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teachers read-only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373368" y="210312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every Grade 10 assessment on the calendar, but you can only edit your own. Others appear with a lock icon.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29000" y="120700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316736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29000" y="175564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classes only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429000" y="210312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booking form only shows your own classes and subjects — you cannot accidentally book for someone else's class.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84632" y="321868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28416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4632" y="376732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students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4632" y="411480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Notes field to add key reminders (chapters, materials needed) — these appear on the student distribution report.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429000" y="3218688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328416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29000" y="376732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deadline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429000" y="411480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schedule when your dates are finalised. Management can see who has and hasn't confirmed.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373368" y="3218688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332841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373368" y="3767328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profile anytime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373368" y="4114800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your classes for next term? Update your profile from the navigation bar — it takes 30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47472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ready to go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app, complete your profile, and start booking.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03580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136392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30175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date on the calendar to book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66744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35478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Confirm when your dates are finalised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096512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19709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407822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student report to hand out to your classes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Ask your HOD or the assessment coordinator.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Date Manager — Teacher Training</dc:title>
  <dc:subject>PptxGenJS Presentation</dc:subject>
  <dc:creator>PptxGenJS</dc:creator>
  <cp:lastModifiedBy>PptxGenJS</cp:lastModifiedBy>
  <cp:revision>1</cp:revision>
  <dcterms:created xsi:type="dcterms:W3CDTF">2026-05-22T15:09:00Z</dcterms:created>
  <dcterms:modified xsi:type="dcterms:W3CDTF">2026-05-22T15:09:00Z</dcterms:modified>
</cp:coreProperties>
</file>